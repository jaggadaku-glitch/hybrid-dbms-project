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1C4A59-A645-C420-EB3F-9C93D369D0D9}" v="32" dt="2025-11-23T08:47:11.786"/>
    <p1510:client id="{60BAB865-2BA8-FB0B-593C-8E747588950C}" v="2" dt="2025-11-23T09:01:02.672"/>
    <p1510:client id="{FFF13B6C-FD22-0C96-7B90-4AFA443FD19E}" v="7" dt="2025-11-23T08:52:28.7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D74AD85-67AC-4019-A5EF-CB103AE6C3F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C6755CBF-2558-4C80-8532-FF942B7DA9A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simple intelligent storage system using MySQL + MongoDB.</a:t>
          </a:r>
        </a:p>
      </dgm:t>
    </dgm:pt>
    <dgm:pt modelId="{9A59D7DB-390B-4D55-A512-2882C5AA73EE}" type="parTrans" cxnId="{EF94F6FC-B28B-4367-BE9F-3D0F6222E3F4}">
      <dgm:prSet/>
      <dgm:spPr/>
      <dgm:t>
        <a:bodyPr/>
        <a:lstStyle/>
        <a:p>
          <a:endParaRPr lang="en-US"/>
        </a:p>
      </dgm:t>
    </dgm:pt>
    <dgm:pt modelId="{7AA76A25-2B23-4938-97DF-F8D4D33C29C0}" type="sibTrans" cxnId="{EF94F6FC-B28B-4367-BE9F-3D0F6222E3F4}">
      <dgm:prSet/>
      <dgm:spPr/>
      <dgm:t>
        <a:bodyPr/>
        <a:lstStyle/>
        <a:p>
          <a:endParaRPr lang="en-US"/>
        </a:p>
      </dgm:t>
    </dgm:pt>
    <dgm:pt modelId="{E5AFFBD3-D8CF-4D22-9D5D-EDDC4826BC6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Modern applications handles different types of data where some data is structured(tables) and some data is unstructured(long-texts, images, documents), so one database cannot handle everything.</a:t>
          </a:r>
        </a:p>
      </dgm:t>
    </dgm:pt>
    <dgm:pt modelId="{7E4E57E8-CBE3-4311-B27E-657032766C10}" type="parTrans" cxnId="{0B0CB5E7-1FC0-4B9C-9464-248863FC43B8}">
      <dgm:prSet/>
      <dgm:spPr/>
      <dgm:t>
        <a:bodyPr/>
        <a:lstStyle/>
        <a:p>
          <a:endParaRPr lang="en-US"/>
        </a:p>
      </dgm:t>
    </dgm:pt>
    <dgm:pt modelId="{10E986A1-118E-45DC-9977-BED9484A068F}" type="sibTrans" cxnId="{0B0CB5E7-1FC0-4B9C-9464-248863FC43B8}">
      <dgm:prSet/>
      <dgm:spPr/>
      <dgm:t>
        <a:bodyPr/>
        <a:lstStyle/>
        <a:p>
          <a:endParaRPr lang="en-US"/>
        </a:p>
      </dgm:t>
    </dgm:pt>
    <dgm:pt modelId="{54BF902A-60F7-49C7-9D18-FFD0D795933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This project shows a hybrid approach using SQL and NoSQL to solve the problem.</a:t>
          </a:r>
        </a:p>
      </dgm:t>
    </dgm:pt>
    <dgm:pt modelId="{FFCA25C7-237E-4620-8A69-82BE037F9D3D}" type="parTrans" cxnId="{86BC4473-EF1B-4962-BD98-54F808F3A997}">
      <dgm:prSet/>
      <dgm:spPr/>
      <dgm:t>
        <a:bodyPr/>
        <a:lstStyle/>
        <a:p>
          <a:endParaRPr lang="en-US"/>
        </a:p>
      </dgm:t>
    </dgm:pt>
    <dgm:pt modelId="{F6265C53-FFC9-43D4-97E1-C5C4ABD9E6C2}" type="sibTrans" cxnId="{86BC4473-EF1B-4962-BD98-54F808F3A997}">
      <dgm:prSet/>
      <dgm:spPr/>
      <dgm:t>
        <a:bodyPr/>
        <a:lstStyle/>
        <a:p>
          <a:endParaRPr lang="en-US"/>
        </a:p>
      </dgm:t>
    </dgm:pt>
    <dgm:pt modelId="{59DFB9FC-389D-46EF-B44B-790CA5BCBA5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Here for structured data(SQL) we use MYSQL and for unstructured data(NoSQL) we use Mongodb .</a:t>
          </a:r>
        </a:p>
      </dgm:t>
    </dgm:pt>
    <dgm:pt modelId="{6913B7E6-C0C9-44F7-AE78-1281233814BB}" type="parTrans" cxnId="{D4D07717-265C-46E3-BB85-C26D3751C2D4}">
      <dgm:prSet/>
      <dgm:spPr/>
      <dgm:t>
        <a:bodyPr/>
        <a:lstStyle/>
        <a:p>
          <a:endParaRPr lang="en-US"/>
        </a:p>
      </dgm:t>
    </dgm:pt>
    <dgm:pt modelId="{81BCBF10-F8B9-411D-AFCE-96E98A9D0B1F}" type="sibTrans" cxnId="{D4D07717-265C-46E3-BB85-C26D3751C2D4}">
      <dgm:prSet/>
      <dgm:spPr/>
      <dgm:t>
        <a:bodyPr/>
        <a:lstStyle/>
        <a:p>
          <a:endParaRPr lang="en-US"/>
        </a:p>
      </dgm:t>
    </dgm:pt>
    <dgm:pt modelId="{894CB0FF-6C27-473B-888D-599EEF7CAB68}" type="pres">
      <dgm:prSet presAssocID="{6D74AD85-67AC-4019-A5EF-CB103AE6C3FA}" presName="root" presStyleCnt="0">
        <dgm:presLayoutVars>
          <dgm:dir/>
          <dgm:resizeHandles val="exact"/>
        </dgm:presLayoutVars>
      </dgm:prSet>
      <dgm:spPr/>
    </dgm:pt>
    <dgm:pt modelId="{CB5ED458-A32B-4ABE-A526-9C96199E2F82}" type="pres">
      <dgm:prSet presAssocID="{C6755CBF-2558-4C80-8532-FF942B7DA9AC}" presName="compNode" presStyleCnt="0"/>
      <dgm:spPr/>
    </dgm:pt>
    <dgm:pt modelId="{4E286DFB-A57B-4BA4-9F72-98239B920728}" type="pres">
      <dgm:prSet presAssocID="{C6755CBF-2558-4C80-8532-FF942B7DA9A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5499376-1E5C-4246-AA01-6646925DD1AF}" type="pres">
      <dgm:prSet presAssocID="{C6755CBF-2558-4C80-8532-FF942B7DA9AC}" presName="spaceRect" presStyleCnt="0"/>
      <dgm:spPr/>
    </dgm:pt>
    <dgm:pt modelId="{0DE0E6E7-9F74-4D45-A63E-9EEDA36C33E5}" type="pres">
      <dgm:prSet presAssocID="{C6755CBF-2558-4C80-8532-FF942B7DA9AC}" presName="textRect" presStyleLbl="revTx" presStyleIdx="0" presStyleCnt="4">
        <dgm:presLayoutVars>
          <dgm:chMax val="1"/>
          <dgm:chPref val="1"/>
        </dgm:presLayoutVars>
      </dgm:prSet>
      <dgm:spPr/>
    </dgm:pt>
    <dgm:pt modelId="{E9958D8B-7B42-4C3A-954F-525DC4878622}" type="pres">
      <dgm:prSet presAssocID="{7AA76A25-2B23-4938-97DF-F8D4D33C29C0}" presName="sibTrans" presStyleCnt="0"/>
      <dgm:spPr/>
    </dgm:pt>
    <dgm:pt modelId="{F5185CAB-31EE-4B2A-B09C-D5734D041E32}" type="pres">
      <dgm:prSet presAssocID="{E5AFFBD3-D8CF-4D22-9D5D-EDDC4826BC67}" presName="compNode" presStyleCnt="0"/>
      <dgm:spPr/>
    </dgm:pt>
    <dgm:pt modelId="{822891B0-86BE-40FF-A15C-BAB0B8AD5960}" type="pres">
      <dgm:prSet presAssocID="{E5AFFBD3-D8CF-4D22-9D5D-EDDC4826BC6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06AB5CDD-C6AE-484B-93C0-778BC6C70FEA}" type="pres">
      <dgm:prSet presAssocID="{E5AFFBD3-D8CF-4D22-9D5D-EDDC4826BC67}" presName="spaceRect" presStyleCnt="0"/>
      <dgm:spPr/>
    </dgm:pt>
    <dgm:pt modelId="{EE427597-28C6-4EFD-B94F-A3D04FB04B26}" type="pres">
      <dgm:prSet presAssocID="{E5AFFBD3-D8CF-4D22-9D5D-EDDC4826BC67}" presName="textRect" presStyleLbl="revTx" presStyleIdx="1" presStyleCnt="4">
        <dgm:presLayoutVars>
          <dgm:chMax val="1"/>
          <dgm:chPref val="1"/>
        </dgm:presLayoutVars>
      </dgm:prSet>
      <dgm:spPr/>
    </dgm:pt>
    <dgm:pt modelId="{B7685EAA-FE3E-470F-89CD-1216D95384A5}" type="pres">
      <dgm:prSet presAssocID="{10E986A1-118E-45DC-9977-BED9484A068F}" presName="sibTrans" presStyleCnt="0"/>
      <dgm:spPr/>
    </dgm:pt>
    <dgm:pt modelId="{CB7B98B4-B19E-49E1-A350-A46B66D46999}" type="pres">
      <dgm:prSet presAssocID="{54BF902A-60F7-49C7-9D18-FFD0D7959334}" presName="compNode" presStyleCnt="0"/>
      <dgm:spPr/>
    </dgm:pt>
    <dgm:pt modelId="{A4638B10-A402-4635-AA57-44FDBDFA6FC3}" type="pres">
      <dgm:prSet presAssocID="{54BF902A-60F7-49C7-9D18-FFD0D795933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D1997839-1DBA-46AF-9D12-7091EC6052AB}" type="pres">
      <dgm:prSet presAssocID="{54BF902A-60F7-49C7-9D18-FFD0D7959334}" presName="spaceRect" presStyleCnt="0"/>
      <dgm:spPr/>
    </dgm:pt>
    <dgm:pt modelId="{8ED317E1-0BF4-4541-9DDE-AD2A4CFE2014}" type="pres">
      <dgm:prSet presAssocID="{54BF902A-60F7-49C7-9D18-FFD0D7959334}" presName="textRect" presStyleLbl="revTx" presStyleIdx="2" presStyleCnt="4">
        <dgm:presLayoutVars>
          <dgm:chMax val="1"/>
          <dgm:chPref val="1"/>
        </dgm:presLayoutVars>
      </dgm:prSet>
      <dgm:spPr/>
    </dgm:pt>
    <dgm:pt modelId="{232138A4-A6ED-4625-9A40-3A065151D38F}" type="pres">
      <dgm:prSet presAssocID="{F6265C53-FFC9-43D4-97E1-C5C4ABD9E6C2}" presName="sibTrans" presStyleCnt="0"/>
      <dgm:spPr/>
    </dgm:pt>
    <dgm:pt modelId="{A1DE9E72-BFB8-45E0-8CD8-80B761B3CED9}" type="pres">
      <dgm:prSet presAssocID="{59DFB9FC-389D-46EF-B44B-790CA5BCBA56}" presName="compNode" presStyleCnt="0"/>
      <dgm:spPr/>
    </dgm:pt>
    <dgm:pt modelId="{DA4778C4-49F3-4E44-AAE9-6A4F23E05FAC}" type="pres">
      <dgm:prSet presAssocID="{59DFB9FC-389D-46EF-B44B-790CA5BCBA5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B139CA42-9DC6-4B7D-868B-CE92148D3A2E}" type="pres">
      <dgm:prSet presAssocID="{59DFB9FC-389D-46EF-B44B-790CA5BCBA56}" presName="spaceRect" presStyleCnt="0"/>
      <dgm:spPr/>
    </dgm:pt>
    <dgm:pt modelId="{29A03BAB-3DAD-4CFC-8F64-3C0536FB3230}" type="pres">
      <dgm:prSet presAssocID="{59DFB9FC-389D-46EF-B44B-790CA5BCBA5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4D07717-265C-46E3-BB85-C26D3751C2D4}" srcId="{6D74AD85-67AC-4019-A5EF-CB103AE6C3FA}" destId="{59DFB9FC-389D-46EF-B44B-790CA5BCBA56}" srcOrd="3" destOrd="0" parTransId="{6913B7E6-C0C9-44F7-AE78-1281233814BB}" sibTransId="{81BCBF10-F8B9-411D-AFCE-96E98A9D0B1F}"/>
    <dgm:cxn modelId="{8E126326-E8C6-4CC9-A9FE-DDCA475BC4AB}" type="presOf" srcId="{C6755CBF-2558-4C80-8532-FF942B7DA9AC}" destId="{0DE0E6E7-9F74-4D45-A63E-9EEDA36C33E5}" srcOrd="0" destOrd="0" presId="urn:microsoft.com/office/officeart/2018/2/layout/IconLabelList"/>
    <dgm:cxn modelId="{86BC4473-EF1B-4962-BD98-54F808F3A997}" srcId="{6D74AD85-67AC-4019-A5EF-CB103AE6C3FA}" destId="{54BF902A-60F7-49C7-9D18-FFD0D7959334}" srcOrd="2" destOrd="0" parTransId="{FFCA25C7-237E-4620-8A69-82BE037F9D3D}" sibTransId="{F6265C53-FFC9-43D4-97E1-C5C4ABD9E6C2}"/>
    <dgm:cxn modelId="{585D917E-8B6E-48AF-A9CD-7662631B9AD0}" type="presOf" srcId="{E5AFFBD3-D8CF-4D22-9D5D-EDDC4826BC67}" destId="{EE427597-28C6-4EFD-B94F-A3D04FB04B26}" srcOrd="0" destOrd="0" presId="urn:microsoft.com/office/officeart/2018/2/layout/IconLabelList"/>
    <dgm:cxn modelId="{13D240A1-454C-4EC2-8F6C-BC03A11A5982}" type="presOf" srcId="{54BF902A-60F7-49C7-9D18-FFD0D7959334}" destId="{8ED317E1-0BF4-4541-9DDE-AD2A4CFE2014}" srcOrd="0" destOrd="0" presId="urn:microsoft.com/office/officeart/2018/2/layout/IconLabelList"/>
    <dgm:cxn modelId="{99D0E7DF-79B6-4D34-8672-162B57536475}" type="presOf" srcId="{59DFB9FC-389D-46EF-B44B-790CA5BCBA56}" destId="{29A03BAB-3DAD-4CFC-8F64-3C0536FB3230}" srcOrd="0" destOrd="0" presId="urn:microsoft.com/office/officeart/2018/2/layout/IconLabelList"/>
    <dgm:cxn modelId="{0B0CB5E7-1FC0-4B9C-9464-248863FC43B8}" srcId="{6D74AD85-67AC-4019-A5EF-CB103AE6C3FA}" destId="{E5AFFBD3-D8CF-4D22-9D5D-EDDC4826BC67}" srcOrd="1" destOrd="0" parTransId="{7E4E57E8-CBE3-4311-B27E-657032766C10}" sibTransId="{10E986A1-118E-45DC-9977-BED9484A068F}"/>
    <dgm:cxn modelId="{B59F3BF7-60DF-4BB1-9975-3F32266689E1}" type="presOf" srcId="{6D74AD85-67AC-4019-A5EF-CB103AE6C3FA}" destId="{894CB0FF-6C27-473B-888D-599EEF7CAB68}" srcOrd="0" destOrd="0" presId="urn:microsoft.com/office/officeart/2018/2/layout/IconLabelList"/>
    <dgm:cxn modelId="{EF94F6FC-B28B-4367-BE9F-3D0F6222E3F4}" srcId="{6D74AD85-67AC-4019-A5EF-CB103AE6C3FA}" destId="{C6755CBF-2558-4C80-8532-FF942B7DA9AC}" srcOrd="0" destOrd="0" parTransId="{9A59D7DB-390B-4D55-A512-2882C5AA73EE}" sibTransId="{7AA76A25-2B23-4938-97DF-F8D4D33C29C0}"/>
    <dgm:cxn modelId="{CE33A1B6-1939-483A-B57B-49BA223CDF02}" type="presParOf" srcId="{894CB0FF-6C27-473B-888D-599EEF7CAB68}" destId="{CB5ED458-A32B-4ABE-A526-9C96199E2F82}" srcOrd="0" destOrd="0" presId="urn:microsoft.com/office/officeart/2018/2/layout/IconLabelList"/>
    <dgm:cxn modelId="{CA27FAFD-FB1F-4182-A135-5190EDB87E19}" type="presParOf" srcId="{CB5ED458-A32B-4ABE-A526-9C96199E2F82}" destId="{4E286DFB-A57B-4BA4-9F72-98239B920728}" srcOrd="0" destOrd="0" presId="urn:microsoft.com/office/officeart/2018/2/layout/IconLabelList"/>
    <dgm:cxn modelId="{CEEF2209-C32A-4088-8568-05D654EA26EC}" type="presParOf" srcId="{CB5ED458-A32B-4ABE-A526-9C96199E2F82}" destId="{D5499376-1E5C-4246-AA01-6646925DD1AF}" srcOrd="1" destOrd="0" presId="urn:microsoft.com/office/officeart/2018/2/layout/IconLabelList"/>
    <dgm:cxn modelId="{FC54325A-5BBD-45A3-A995-387810B32C58}" type="presParOf" srcId="{CB5ED458-A32B-4ABE-A526-9C96199E2F82}" destId="{0DE0E6E7-9F74-4D45-A63E-9EEDA36C33E5}" srcOrd="2" destOrd="0" presId="urn:microsoft.com/office/officeart/2018/2/layout/IconLabelList"/>
    <dgm:cxn modelId="{1CF494DB-85B9-4A47-A5F7-CE12313461CC}" type="presParOf" srcId="{894CB0FF-6C27-473B-888D-599EEF7CAB68}" destId="{E9958D8B-7B42-4C3A-954F-525DC4878622}" srcOrd="1" destOrd="0" presId="urn:microsoft.com/office/officeart/2018/2/layout/IconLabelList"/>
    <dgm:cxn modelId="{EA5846C8-4EA9-4514-A94B-8E7CEB40F017}" type="presParOf" srcId="{894CB0FF-6C27-473B-888D-599EEF7CAB68}" destId="{F5185CAB-31EE-4B2A-B09C-D5734D041E32}" srcOrd="2" destOrd="0" presId="urn:microsoft.com/office/officeart/2018/2/layout/IconLabelList"/>
    <dgm:cxn modelId="{3E3FF0A8-E96B-49AB-A395-91E9C51F3E26}" type="presParOf" srcId="{F5185CAB-31EE-4B2A-B09C-D5734D041E32}" destId="{822891B0-86BE-40FF-A15C-BAB0B8AD5960}" srcOrd="0" destOrd="0" presId="urn:microsoft.com/office/officeart/2018/2/layout/IconLabelList"/>
    <dgm:cxn modelId="{9F8CE437-7072-4B45-8564-7BB691834379}" type="presParOf" srcId="{F5185CAB-31EE-4B2A-B09C-D5734D041E32}" destId="{06AB5CDD-C6AE-484B-93C0-778BC6C70FEA}" srcOrd="1" destOrd="0" presId="urn:microsoft.com/office/officeart/2018/2/layout/IconLabelList"/>
    <dgm:cxn modelId="{EF322C9D-2F1B-4907-BCFE-DB3A6A5A7C65}" type="presParOf" srcId="{F5185CAB-31EE-4B2A-B09C-D5734D041E32}" destId="{EE427597-28C6-4EFD-B94F-A3D04FB04B26}" srcOrd="2" destOrd="0" presId="urn:microsoft.com/office/officeart/2018/2/layout/IconLabelList"/>
    <dgm:cxn modelId="{5E8779F0-EC5F-44C5-86FA-A038E7219ADE}" type="presParOf" srcId="{894CB0FF-6C27-473B-888D-599EEF7CAB68}" destId="{B7685EAA-FE3E-470F-89CD-1216D95384A5}" srcOrd="3" destOrd="0" presId="urn:microsoft.com/office/officeart/2018/2/layout/IconLabelList"/>
    <dgm:cxn modelId="{9797C196-56EF-44EB-A356-69FAAA8A2A80}" type="presParOf" srcId="{894CB0FF-6C27-473B-888D-599EEF7CAB68}" destId="{CB7B98B4-B19E-49E1-A350-A46B66D46999}" srcOrd="4" destOrd="0" presId="urn:microsoft.com/office/officeart/2018/2/layout/IconLabelList"/>
    <dgm:cxn modelId="{1AF6D9AA-FCBA-4A61-BA08-7AD70BCA0203}" type="presParOf" srcId="{CB7B98B4-B19E-49E1-A350-A46B66D46999}" destId="{A4638B10-A402-4635-AA57-44FDBDFA6FC3}" srcOrd="0" destOrd="0" presId="urn:microsoft.com/office/officeart/2018/2/layout/IconLabelList"/>
    <dgm:cxn modelId="{1988E30B-E1F8-4092-A3DD-D592A3611FA1}" type="presParOf" srcId="{CB7B98B4-B19E-49E1-A350-A46B66D46999}" destId="{D1997839-1DBA-46AF-9D12-7091EC6052AB}" srcOrd="1" destOrd="0" presId="urn:microsoft.com/office/officeart/2018/2/layout/IconLabelList"/>
    <dgm:cxn modelId="{37CC2286-2091-482D-B05B-DA239E6C5823}" type="presParOf" srcId="{CB7B98B4-B19E-49E1-A350-A46B66D46999}" destId="{8ED317E1-0BF4-4541-9DDE-AD2A4CFE2014}" srcOrd="2" destOrd="0" presId="urn:microsoft.com/office/officeart/2018/2/layout/IconLabelList"/>
    <dgm:cxn modelId="{2C65CC6F-BDA0-45C0-8CE6-ED4767D81FC3}" type="presParOf" srcId="{894CB0FF-6C27-473B-888D-599EEF7CAB68}" destId="{232138A4-A6ED-4625-9A40-3A065151D38F}" srcOrd="5" destOrd="0" presId="urn:microsoft.com/office/officeart/2018/2/layout/IconLabelList"/>
    <dgm:cxn modelId="{68C400B1-C5A9-464E-B86A-E00CB076809F}" type="presParOf" srcId="{894CB0FF-6C27-473B-888D-599EEF7CAB68}" destId="{A1DE9E72-BFB8-45E0-8CD8-80B761B3CED9}" srcOrd="6" destOrd="0" presId="urn:microsoft.com/office/officeart/2018/2/layout/IconLabelList"/>
    <dgm:cxn modelId="{E1CB732E-6D73-4141-B57B-5D6D5BF26EE7}" type="presParOf" srcId="{A1DE9E72-BFB8-45E0-8CD8-80B761B3CED9}" destId="{DA4778C4-49F3-4E44-AAE9-6A4F23E05FAC}" srcOrd="0" destOrd="0" presId="urn:microsoft.com/office/officeart/2018/2/layout/IconLabelList"/>
    <dgm:cxn modelId="{ACD03D5B-DA87-4D11-9EF7-AB07D6FEFEE0}" type="presParOf" srcId="{A1DE9E72-BFB8-45E0-8CD8-80B761B3CED9}" destId="{B139CA42-9DC6-4B7D-868B-CE92148D3A2E}" srcOrd="1" destOrd="0" presId="urn:microsoft.com/office/officeart/2018/2/layout/IconLabelList"/>
    <dgm:cxn modelId="{9961B23E-DCF5-4779-B6D2-C383FA371D1A}" type="presParOf" srcId="{A1DE9E72-BFB8-45E0-8CD8-80B761B3CED9}" destId="{29A03BAB-3DAD-4CFC-8F64-3C0536FB323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286DFB-A57B-4BA4-9F72-98239B920728}">
      <dsp:nvSpPr>
        <dsp:cNvPr id="0" name=""/>
        <dsp:cNvSpPr/>
      </dsp:nvSpPr>
      <dsp:spPr>
        <a:xfrm>
          <a:off x="1138979" y="912726"/>
          <a:ext cx="932563" cy="93256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E0E6E7-9F74-4D45-A63E-9EEDA36C33E5}">
      <dsp:nvSpPr>
        <dsp:cNvPr id="0" name=""/>
        <dsp:cNvSpPr/>
      </dsp:nvSpPr>
      <dsp:spPr>
        <a:xfrm>
          <a:off x="569079" y="2224817"/>
          <a:ext cx="2072362" cy="121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 simple intelligent storage system using MySQL + MongoDB.</a:t>
          </a:r>
        </a:p>
      </dsp:txBody>
      <dsp:txXfrm>
        <a:off x="569079" y="2224817"/>
        <a:ext cx="2072362" cy="1215000"/>
      </dsp:txXfrm>
    </dsp:sp>
    <dsp:sp modelId="{822891B0-86BE-40FF-A15C-BAB0B8AD5960}">
      <dsp:nvSpPr>
        <dsp:cNvPr id="0" name=""/>
        <dsp:cNvSpPr/>
      </dsp:nvSpPr>
      <dsp:spPr>
        <a:xfrm>
          <a:off x="3574005" y="912726"/>
          <a:ext cx="932563" cy="93256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427597-28C6-4EFD-B94F-A3D04FB04B26}">
      <dsp:nvSpPr>
        <dsp:cNvPr id="0" name=""/>
        <dsp:cNvSpPr/>
      </dsp:nvSpPr>
      <dsp:spPr>
        <a:xfrm>
          <a:off x="3004105" y="2224817"/>
          <a:ext cx="2072362" cy="121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Modern applications handles different types of data where some data is structured(tables) and some data is unstructured(long-texts, images, documents), so one database cannot handle everything.</a:t>
          </a:r>
        </a:p>
      </dsp:txBody>
      <dsp:txXfrm>
        <a:off x="3004105" y="2224817"/>
        <a:ext cx="2072362" cy="1215000"/>
      </dsp:txXfrm>
    </dsp:sp>
    <dsp:sp modelId="{A4638B10-A402-4635-AA57-44FDBDFA6FC3}">
      <dsp:nvSpPr>
        <dsp:cNvPr id="0" name=""/>
        <dsp:cNvSpPr/>
      </dsp:nvSpPr>
      <dsp:spPr>
        <a:xfrm>
          <a:off x="6009031" y="912726"/>
          <a:ext cx="932563" cy="93256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D317E1-0BF4-4541-9DDE-AD2A4CFE2014}">
      <dsp:nvSpPr>
        <dsp:cNvPr id="0" name=""/>
        <dsp:cNvSpPr/>
      </dsp:nvSpPr>
      <dsp:spPr>
        <a:xfrm>
          <a:off x="5439131" y="2224817"/>
          <a:ext cx="2072362" cy="121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This project shows a hybrid approach using SQL and NoSQL to solve the problem.</a:t>
          </a:r>
        </a:p>
      </dsp:txBody>
      <dsp:txXfrm>
        <a:off x="5439131" y="2224817"/>
        <a:ext cx="2072362" cy="1215000"/>
      </dsp:txXfrm>
    </dsp:sp>
    <dsp:sp modelId="{DA4778C4-49F3-4E44-AAE9-6A4F23E05FAC}">
      <dsp:nvSpPr>
        <dsp:cNvPr id="0" name=""/>
        <dsp:cNvSpPr/>
      </dsp:nvSpPr>
      <dsp:spPr>
        <a:xfrm>
          <a:off x="8444057" y="912726"/>
          <a:ext cx="932563" cy="93256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A03BAB-3DAD-4CFC-8F64-3C0536FB3230}">
      <dsp:nvSpPr>
        <dsp:cNvPr id="0" name=""/>
        <dsp:cNvSpPr/>
      </dsp:nvSpPr>
      <dsp:spPr>
        <a:xfrm>
          <a:off x="7874157" y="2224817"/>
          <a:ext cx="2072362" cy="121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Here for structured data(SQL) we use MYSQL and for unstructured data(NoSQL) we use Mongodb .</a:t>
          </a:r>
        </a:p>
      </dsp:txBody>
      <dsp:txXfrm>
        <a:off x="7874157" y="2224817"/>
        <a:ext cx="2072362" cy="1215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DA1BA-F662-95EA-2FC5-5D802C2B6D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B16E10-BFD4-8F3E-6D91-D676972238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3A01EF-5D60-9ED2-442B-E4EE62486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16203-4499-4702-A7C3-15999FD9E062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369F11-E9E0-51B9-9799-77A8FB9EC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774697-FC70-954A-606F-AA371D1E9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EE349-4A08-4353-B29A-E92B29DA98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6950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148AC-4F6D-461C-248B-6ACE848A5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D123A-C87E-007E-6AF4-FD833935A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20EF6A-048B-F93B-67A8-E88E9E56A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16203-4499-4702-A7C3-15999FD9E062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BC4E8-FCF4-AAFF-3069-BD6C190C7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62C62B-4D91-4597-248B-F4F78727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EE349-4A08-4353-B29A-E92B29DA98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785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A6394-759A-242E-DAEA-1643646C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9DC954-F24C-84BE-DF90-3613AB7C90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9D90A3-696B-F0D5-2A13-98639EC5C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16203-4499-4702-A7C3-15999FD9E062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D897B7-6130-CBA4-3BFD-A65B6B6AF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34160-4E90-B05C-07CD-180BBEE6F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EE349-4A08-4353-B29A-E92B29DA98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4877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8302A-0805-5FD3-4CA8-B01134E4C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7149C-203A-C1AB-F0F3-A81DE33C04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F55501-EAD9-B2A5-EB39-82E77BA453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E1771F-C1A3-170B-F77B-9CFDC5374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16203-4499-4702-A7C3-15999FD9E062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ADC125-3CFC-E1DD-9722-91E3735DB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62030F-D45E-5E44-6E3A-250706965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EE349-4A08-4353-B29A-E92B29DA98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3715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C7CC8-938B-75CD-0663-008E8D82C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EA48D3-4297-0D65-93AB-C306929464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8FADD8-8669-E972-CDB8-19014316E7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C5BEE1-7F34-79A0-A2D3-57EA677F06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17F4C3-ABDB-0B8C-2AD3-C3909E0E83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F1FADF-6204-E891-1288-75554800C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16203-4499-4702-A7C3-15999FD9E062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F550AE-BC61-ABF1-D702-A7DC56393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10F6E4-5601-BF74-9BFE-B27C24694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EE349-4A08-4353-B29A-E92B29DA98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2665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88500-5B56-FD9D-281F-2E042C72D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8B50A4-FA1B-7106-FCB3-99AB4B127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16203-4499-4702-A7C3-15999FD9E062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2142F8-F941-1644-9694-B459A7BD8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85D6B8-0E19-1FD3-6FBF-16835BC68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EE349-4A08-4353-B29A-E92B29DA98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3510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43E290-CC02-83A1-D597-66CC0775E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16203-4499-4702-A7C3-15999FD9E062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D19AFE-D8E5-04A1-B737-BD562CD39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ACA430-21AE-416A-CED5-52C26D477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EE349-4A08-4353-B29A-E92B29DA98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4960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012A5-8C43-5B6F-5A96-42C200C1D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500ED-0B54-BE14-2B71-5A7265C8F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C694EA-5973-1282-6AEB-4FA1750F44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CAE74D-2F5B-54BB-09ED-29B9E02FF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16203-4499-4702-A7C3-15999FD9E062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F1E272-AB96-86F3-DD7A-B1C69BA07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6F266D-2129-4A10-30BC-B1ECB678F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EE349-4A08-4353-B29A-E92B29DA98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9559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A3410-2A9B-308E-958E-14B7F8A2D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522930-23B0-6FBD-93AB-5C2CB8AB0C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8CC6A0-0F8A-A1EA-DB2A-1B9B6A50BA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E081A2-10A5-4B7D-ECCB-C2ACBAB34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16203-4499-4702-A7C3-15999FD9E062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08FFAC-F28B-BB8B-152D-40E0C9A2C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737F56-AA17-1052-AD96-A1AC7133B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EE349-4A08-4353-B29A-E92B29DA98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8930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F6F49-6E02-29A0-30E1-8F1BF14E5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B0EB10-8EE3-E977-CDAB-63B002FD21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18D993-8E01-36D4-B1E5-33F27F954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16203-4499-4702-A7C3-15999FD9E062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B5BF6D-6F5E-E799-98CD-514EB9F6D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3776C4-8827-E268-2803-DC87289BD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EE349-4A08-4353-B29A-E92B29DA98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1309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BCFBE5-89EB-650C-B48D-ED99F17FA2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4B505F-25C2-3BC9-E164-C80BC95A87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4DF11-84C7-4EB6-5C3D-A7E1E9118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16203-4499-4702-A7C3-15999FD9E062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BB9B5E-5DC8-4D56-CFB0-1B634711E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C29140-16A9-3469-00FB-81E15B9E5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EE349-4A08-4353-B29A-E92B29DA98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2351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4A8A0A-C166-6852-27F6-90E5B4CF9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BC013F-9C65-55E7-1DC8-016628F3B6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14D3E9-4A8F-2010-F827-7009F44BE8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516203-4499-4702-A7C3-15999FD9E062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E399E1-01A5-EA52-3122-971B543032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65521B-BBFD-FB17-53E1-54E0DE8404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BEE349-4A08-4353-B29A-E92B29DA98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4869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0FFFAA-0C33-8838-4D1A-825E50CB88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7101" y="735283"/>
            <a:ext cx="4978399" cy="3165045"/>
          </a:xfrm>
        </p:spPr>
        <p:txBody>
          <a:bodyPr anchor="b">
            <a:normAutofit/>
          </a:bodyPr>
          <a:lstStyle/>
          <a:p>
            <a:pPr algn="l"/>
            <a:r>
              <a:rPr lang="en-US" sz="5200"/>
              <a:t>Hybrid SQL+NoSQL Mini DBMS</a:t>
            </a:r>
            <a:endParaRPr lang="en-IN" sz="52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702584-0617-B330-CBCD-9EEDD9F948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7101" y="4078423"/>
            <a:ext cx="4978399" cy="205865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/>
              <a:t>BY – Hafsa Habeeb[A24ARIU0021] </a:t>
            </a:r>
          </a:p>
          <a:p>
            <a:pPr algn="l"/>
            <a:r>
              <a:rPr lang="en-US" err="1"/>
              <a:t>Jiwak</a:t>
            </a:r>
            <a:r>
              <a:rPr lang="en-US"/>
              <a:t> Kumar[A24ARIU0020]</a:t>
            </a:r>
          </a:p>
        </p:txBody>
      </p:sp>
      <p:pic>
        <p:nvPicPr>
          <p:cNvPr id="7" name="Graphic 6" descr="Database">
            <a:extLst>
              <a:ext uri="{FF2B5EF4-FFF2-40B4-BE49-F238E27FC236}">
                <a16:creationId xmlns:a16="http://schemas.microsoft.com/office/drawing/2014/main" id="{B4549D48-69A1-5800-C2D7-773C17D917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9" name="Graphic 8" descr="Database">
            <a:extLst>
              <a:ext uri="{FF2B5EF4-FFF2-40B4-BE49-F238E27FC236}">
                <a16:creationId xmlns:a16="http://schemas.microsoft.com/office/drawing/2014/main" id="{1D1F779F-9750-4143-9601-7684A9ED97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702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3B8BC7-000B-76CE-721B-8EF0D09E8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564" y="557188"/>
            <a:ext cx="4983678" cy="102464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200" b="1"/>
              <a:t>                            </a:t>
            </a:r>
            <a:r>
              <a:rPr lang="en-US" sz="4000" b="1"/>
              <a:t>INTRODUCTION</a:t>
            </a:r>
            <a:endParaRPr lang="en-IN" sz="4000" b="1"/>
          </a:p>
        </p:txBody>
      </p:sp>
      <p:pic>
        <p:nvPicPr>
          <p:cNvPr id="8" name="Picture 7" hidden="1">
            <a:extLst>
              <a:ext uri="{FF2B5EF4-FFF2-40B4-BE49-F238E27FC236}">
                <a16:creationId xmlns:a16="http://schemas.microsoft.com/office/drawing/2014/main" id="{EF7BC959-21C1-326F-50C5-6BB61CE57C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730"/>
          <a:stretch>
            <a:fillRect/>
          </a:stretch>
        </p:blipFill>
        <p:spPr>
          <a:xfrm>
            <a:off x="6096001" y="1895467"/>
            <a:ext cx="5319062" cy="2991983"/>
          </a:xfrm>
          <a:prstGeom prst="rect">
            <a:avLst/>
          </a:prstGeom>
        </p:spPr>
      </p:pic>
      <p:graphicFrame>
        <p:nvGraphicFramePr>
          <p:cNvPr id="22" name="Content Placeholder 4">
            <a:extLst>
              <a:ext uri="{FF2B5EF4-FFF2-40B4-BE49-F238E27FC236}">
                <a16:creationId xmlns:a16="http://schemas.microsoft.com/office/drawing/2014/main" id="{BA0589C7-442D-87BF-1125-CA0E1FCA8A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9110593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14017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38D33-3E17-31F9-731C-7F14E157F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/>
              <a:t>Project Objective</a:t>
            </a:r>
            <a:endParaRPr lang="en-IN" sz="40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7AE11-9BEE-0AB5-4431-85B6479A9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Build a simple backend that stores the data in: </a:t>
            </a:r>
            <a:endParaRPr lang="en-IN"/>
          </a:p>
          <a:p>
            <a:pPr marL="0" indent="0">
              <a:buNone/>
            </a:pPr>
            <a:r>
              <a:rPr lang="en-IN"/>
              <a:t>            MySQL : For structured data</a:t>
            </a:r>
          </a:p>
          <a:p>
            <a:pPr marL="0" indent="0">
              <a:buNone/>
            </a:pPr>
            <a:r>
              <a:rPr lang="en-IN"/>
              <a:t>            </a:t>
            </a:r>
            <a:r>
              <a:rPr lang="en-IN" err="1"/>
              <a:t>Mongodb</a:t>
            </a:r>
            <a:r>
              <a:rPr lang="en-IN"/>
              <a:t> : for unstructured data</a:t>
            </a:r>
          </a:p>
          <a:p>
            <a:r>
              <a:rPr lang="en-IN"/>
              <a:t>Use decision logic to automatically decide where the data should go.</a:t>
            </a:r>
          </a:p>
          <a:p>
            <a:r>
              <a:rPr lang="en-IN"/>
              <a:t>By demonstrating how SQL and NoSQL works together.</a:t>
            </a:r>
          </a:p>
        </p:txBody>
      </p:sp>
    </p:spTree>
    <p:extLst>
      <p:ext uri="{BB962C8B-B14F-4D97-AF65-F5344CB8AC3E}">
        <p14:creationId xmlns:p14="http://schemas.microsoft.com/office/powerpoint/2010/main" val="3848018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9174B-8623-A610-4F12-9B51EB9B3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/>
              <a:t>What is docker?</a:t>
            </a:r>
            <a:endParaRPr lang="en-IN" sz="40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DE3CB-38A0-7E7D-740E-5D043B1A1C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Docker is a tool used to run applications in containers.</a:t>
            </a:r>
          </a:p>
          <a:p>
            <a:r>
              <a:rPr lang="en-US"/>
              <a:t>A container includes everything needed to run the service.</a:t>
            </a:r>
          </a:p>
          <a:p>
            <a:r>
              <a:rPr lang="en-US"/>
              <a:t>No installation of MySQL or </a:t>
            </a:r>
            <a:r>
              <a:rPr lang="en-US" err="1"/>
              <a:t>Mongodb</a:t>
            </a:r>
            <a:r>
              <a:rPr lang="en-US"/>
              <a:t> required.</a:t>
            </a:r>
          </a:p>
          <a:p>
            <a:r>
              <a:rPr lang="en-US"/>
              <a:t>In this project:</a:t>
            </a:r>
            <a:endParaRPr lang="en-IN"/>
          </a:p>
          <a:p>
            <a:r>
              <a:rPr lang="en-IN"/>
              <a:t>      Docker runs MySQL container </a:t>
            </a:r>
          </a:p>
          <a:p>
            <a:r>
              <a:rPr lang="en-IN"/>
              <a:t>      Docker runs </a:t>
            </a:r>
            <a:r>
              <a:rPr lang="en-IN" err="1"/>
              <a:t>Mongodb</a:t>
            </a:r>
            <a:r>
              <a:rPr lang="en-IN"/>
              <a:t> container</a:t>
            </a:r>
          </a:p>
          <a:p>
            <a:r>
              <a:rPr lang="en-IN"/>
              <a:t>Simple command :</a:t>
            </a:r>
            <a:r>
              <a:rPr lang="en-IN" b="1"/>
              <a:t> docker compose up -d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108828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08747-1E27-5138-E29E-B76B67114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/>
              <a:t>Tools and Technologies Used</a:t>
            </a:r>
            <a:endParaRPr lang="en-IN" sz="40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76C00-6122-4587-DB0C-50B400C6FB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err="1"/>
              <a:t>FastAPI</a:t>
            </a:r>
            <a:r>
              <a:rPr lang="en-US"/>
              <a:t> – This connects both the databases and decides where the data should go</a:t>
            </a:r>
          </a:p>
          <a:p>
            <a:r>
              <a:rPr lang="en-US"/>
              <a:t>MySQL – relational database</a:t>
            </a:r>
          </a:p>
          <a:p>
            <a:r>
              <a:rPr lang="en-US" err="1"/>
              <a:t>Mongodb</a:t>
            </a:r>
            <a:r>
              <a:rPr lang="en-US"/>
              <a:t> – NoSQL document database.</a:t>
            </a:r>
          </a:p>
          <a:p>
            <a:r>
              <a:rPr lang="en-US" err="1"/>
              <a:t>SQLAlchemy</a:t>
            </a:r>
            <a:r>
              <a:rPr lang="en-US"/>
              <a:t> – </a:t>
            </a:r>
            <a:r>
              <a:rPr lang="en-US" err="1"/>
              <a:t>Mysql</a:t>
            </a:r>
            <a:r>
              <a:rPr lang="en-US"/>
              <a:t> connection.</a:t>
            </a:r>
          </a:p>
          <a:p>
            <a:r>
              <a:rPr lang="en-US" err="1"/>
              <a:t>PyMongodb</a:t>
            </a:r>
            <a:r>
              <a:rPr lang="en-US"/>
              <a:t> – to connect python and </a:t>
            </a:r>
            <a:r>
              <a:rPr lang="en-US" err="1"/>
              <a:t>Mongodb</a:t>
            </a:r>
            <a:endParaRPr lang="en-US"/>
          </a:p>
          <a:p>
            <a:r>
              <a:rPr lang="en-US"/>
              <a:t>Docker – container setup</a:t>
            </a:r>
          </a:p>
          <a:p>
            <a:r>
              <a:rPr lang="en-US"/>
              <a:t>Python – main programming language.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7622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0221F-A686-5197-FDF3-C58A616A6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/>
              <a:t>System Architecture</a:t>
            </a:r>
            <a:endParaRPr lang="en-IN" sz="40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B031D3-82C3-08B1-77D9-45FB3C4856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Users sends data  -&gt; Backend receives it</a:t>
            </a:r>
          </a:p>
          <a:p>
            <a:r>
              <a:rPr lang="en-US"/>
              <a:t>Backend checks:</a:t>
            </a:r>
          </a:p>
          <a:p>
            <a:r>
              <a:rPr lang="en-US"/>
              <a:t>      is the data structured?</a:t>
            </a:r>
          </a:p>
          <a:p>
            <a:r>
              <a:rPr lang="en-US"/>
              <a:t>      is text short or long?</a:t>
            </a:r>
          </a:p>
          <a:p>
            <a:r>
              <a:rPr lang="en-US"/>
              <a:t>      is there a file?</a:t>
            </a:r>
          </a:p>
          <a:p>
            <a:r>
              <a:rPr lang="en-US"/>
              <a:t>Decision:</a:t>
            </a:r>
          </a:p>
          <a:p>
            <a:r>
              <a:rPr lang="en-US"/>
              <a:t>      if structured -&gt; saves in MySQL</a:t>
            </a:r>
          </a:p>
          <a:p>
            <a:r>
              <a:rPr lang="en-US"/>
              <a:t>      if unstructured/large -&gt; saves in </a:t>
            </a:r>
            <a:r>
              <a:rPr lang="en-US" err="1"/>
              <a:t>Mongodb</a:t>
            </a:r>
            <a:endParaRPr lang="en-US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26976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F6D66-42F2-9719-0C59-AF3A33663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>
                <a:ea typeface="+mj-lt"/>
                <a:cs typeface="+mj-lt"/>
              </a:rPr>
              <a:t>Decision Logic</a:t>
            </a:r>
            <a:endParaRPr lang="en-US" sz="40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8C66B-23E4-5AAB-A44F-41E917645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Short text + JSON → </a:t>
            </a:r>
            <a:r>
              <a:rPr lang="en-US" b="1">
                <a:ea typeface="+mn-lt"/>
                <a:cs typeface="+mn-lt"/>
              </a:rPr>
              <a:t>MySQL</a:t>
            </a:r>
            <a:endParaRPr lang="en-US"/>
          </a:p>
          <a:p>
            <a:r>
              <a:rPr lang="en-US">
                <a:ea typeface="+mn-lt"/>
                <a:cs typeface="+mn-lt"/>
              </a:rPr>
              <a:t>Long text → </a:t>
            </a:r>
            <a:r>
              <a:rPr lang="en-US" b="1">
                <a:ea typeface="+mn-lt"/>
                <a:cs typeface="+mn-lt"/>
              </a:rPr>
              <a:t>MongoDB</a:t>
            </a:r>
            <a:endParaRPr lang="en-US"/>
          </a:p>
          <a:p>
            <a:r>
              <a:rPr lang="en-US">
                <a:ea typeface="+mn-lt"/>
                <a:cs typeface="+mn-lt"/>
              </a:rPr>
              <a:t>Files → </a:t>
            </a:r>
            <a:r>
              <a:rPr lang="en-US" b="1">
                <a:ea typeface="+mn-lt"/>
                <a:cs typeface="+mn-lt"/>
              </a:rPr>
              <a:t>MongoDB</a:t>
            </a:r>
            <a:endParaRPr lang="en-US"/>
          </a:p>
          <a:p>
            <a:r>
              <a:rPr lang="en-US">
                <a:ea typeface="+mn-lt"/>
                <a:cs typeface="+mn-lt"/>
              </a:rPr>
              <a:t>Unknown fields → </a:t>
            </a:r>
            <a:r>
              <a:rPr lang="en-US" b="1">
                <a:ea typeface="+mn-lt"/>
                <a:cs typeface="+mn-lt"/>
              </a:rPr>
              <a:t>MongoDB</a:t>
            </a:r>
            <a:endParaRPr lang="en-US"/>
          </a:p>
          <a:p>
            <a:r>
              <a:rPr lang="en-US">
                <a:ea typeface="+mn-lt"/>
                <a:cs typeface="+mn-lt"/>
              </a:rPr>
              <a:t>Known structured fields → </a:t>
            </a:r>
            <a:r>
              <a:rPr lang="en-US" b="1">
                <a:ea typeface="+mn-lt"/>
                <a:cs typeface="+mn-lt"/>
              </a:rPr>
              <a:t>MySQL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710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F8B6C-6D6B-B665-92D1-6EFD8009F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>
                <a:ea typeface="+mj-lt"/>
                <a:cs typeface="+mj-lt"/>
              </a:rPr>
              <a:t>How Data Is Stored</a:t>
            </a:r>
            <a:endParaRPr lang="en-US" sz="40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CF833-42C2-5C03-8A35-145838EA1A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b="1">
                <a:ea typeface="+mn-lt"/>
                <a:cs typeface="+mn-lt"/>
              </a:rPr>
              <a:t>MySQL stores:</a:t>
            </a:r>
            <a:endParaRPr lang="en-US"/>
          </a:p>
          <a:p>
            <a:r>
              <a:rPr lang="en-US">
                <a:ea typeface="+mn-lt"/>
                <a:cs typeface="+mn-lt"/>
              </a:rPr>
              <a:t>id</a:t>
            </a:r>
            <a:endParaRPr lang="en-US"/>
          </a:p>
          <a:p>
            <a:r>
              <a:rPr lang="en-US">
                <a:ea typeface="+mn-lt"/>
                <a:cs typeface="+mn-lt"/>
              </a:rPr>
              <a:t>title</a:t>
            </a:r>
            <a:endParaRPr lang="en-US"/>
          </a:p>
          <a:p>
            <a:r>
              <a:rPr lang="en-US" err="1">
                <a:ea typeface="+mn-lt"/>
                <a:cs typeface="+mn-lt"/>
              </a:rPr>
              <a:t>structured_json</a:t>
            </a:r>
            <a:endParaRPr lang="en-US" err="1"/>
          </a:p>
          <a:p>
            <a:r>
              <a:rPr lang="en-US" err="1">
                <a:ea typeface="+mn-lt"/>
                <a:cs typeface="+mn-lt"/>
              </a:rPr>
              <a:t>mongo_doc_id</a:t>
            </a:r>
            <a:endParaRPr lang="en-US" err="1"/>
          </a:p>
          <a:p>
            <a:r>
              <a:rPr lang="en-US" b="1">
                <a:ea typeface="+mn-lt"/>
                <a:cs typeface="+mn-lt"/>
              </a:rPr>
              <a:t>MongoDB stores:</a:t>
            </a:r>
            <a:endParaRPr lang="en-US"/>
          </a:p>
          <a:p>
            <a:r>
              <a:rPr lang="en-US">
                <a:ea typeface="+mn-lt"/>
                <a:cs typeface="+mn-lt"/>
              </a:rPr>
              <a:t>text</a:t>
            </a:r>
            <a:endParaRPr lang="en-US"/>
          </a:p>
          <a:p>
            <a:r>
              <a:rPr lang="en-US">
                <a:ea typeface="+mn-lt"/>
                <a:cs typeface="+mn-lt"/>
              </a:rPr>
              <a:t>long unstructured data</a:t>
            </a:r>
            <a:endParaRPr lang="en-US"/>
          </a:p>
          <a:p>
            <a:r>
              <a:rPr lang="en-US">
                <a:ea typeface="+mn-lt"/>
                <a:cs typeface="+mn-lt"/>
              </a:rPr>
              <a:t>files (as hex)</a:t>
            </a:r>
            <a:endParaRPr lang="en-US"/>
          </a:p>
          <a:p>
            <a:r>
              <a:rPr lang="en-US">
                <a:ea typeface="+mn-lt"/>
                <a:cs typeface="+mn-lt"/>
              </a:rPr>
              <a:t>JSON fields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3774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49163-3C7A-0682-054F-71A225F6C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>
                <a:ea typeface="+mj-lt"/>
                <a:cs typeface="+mj-lt"/>
              </a:rPr>
              <a:t>Project Folder Overview</a:t>
            </a:r>
            <a:endParaRPr lang="en-US" sz="40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149B7-1346-E2A5-5F44-3DF85CEAC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latin typeface="Consolas"/>
              </a:rPr>
              <a:t>docker-</a:t>
            </a:r>
            <a:r>
              <a:rPr lang="en-US" b="1" err="1">
                <a:latin typeface="Consolas"/>
              </a:rPr>
              <a:t>compose.yml</a:t>
            </a:r>
            <a:r>
              <a:rPr lang="en-US">
                <a:ea typeface="+mn-lt"/>
                <a:cs typeface="+mn-lt"/>
              </a:rPr>
              <a:t> – starts MySQL + MongoDB</a:t>
            </a:r>
            <a:endParaRPr lang="en-US"/>
          </a:p>
          <a:p>
            <a:r>
              <a:rPr lang="en-US" b="1" err="1">
                <a:latin typeface="Consolas"/>
              </a:rPr>
              <a:t>db_init.sql</a:t>
            </a:r>
            <a:r>
              <a:rPr lang="en-US">
                <a:ea typeface="+mn-lt"/>
                <a:cs typeface="+mn-lt"/>
              </a:rPr>
              <a:t> – creates MySQL table</a:t>
            </a:r>
            <a:endParaRPr lang="en-US"/>
          </a:p>
          <a:p>
            <a:r>
              <a:rPr lang="en-US" b="1">
                <a:latin typeface="Consolas"/>
              </a:rPr>
              <a:t>backend/main.py</a:t>
            </a:r>
            <a:r>
              <a:rPr lang="en-US">
                <a:ea typeface="+mn-lt"/>
                <a:cs typeface="+mn-lt"/>
              </a:rPr>
              <a:t> – </a:t>
            </a:r>
            <a:r>
              <a:rPr lang="en-US" err="1">
                <a:ea typeface="+mn-lt"/>
                <a:cs typeface="+mn-lt"/>
              </a:rPr>
              <a:t>FastAPI</a:t>
            </a:r>
            <a:r>
              <a:rPr lang="en-US">
                <a:ea typeface="+mn-lt"/>
                <a:cs typeface="+mn-lt"/>
              </a:rPr>
              <a:t> backend</a:t>
            </a:r>
            <a:endParaRPr lang="en-US"/>
          </a:p>
          <a:p>
            <a:r>
              <a:rPr lang="en-US" b="1">
                <a:latin typeface="Consolas"/>
              </a:rPr>
              <a:t>backend/decision.py</a:t>
            </a:r>
            <a:r>
              <a:rPr lang="en-US">
                <a:ea typeface="+mn-lt"/>
                <a:cs typeface="+mn-lt"/>
              </a:rPr>
              <a:t> – logic for choosing DB</a:t>
            </a:r>
            <a:endParaRPr lang="en-US"/>
          </a:p>
          <a:p>
            <a:r>
              <a:rPr lang="en-US" b="1">
                <a:latin typeface="Consolas"/>
              </a:rPr>
              <a:t>backend/models.py</a:t>
            </a:r>
            <a:r>
              <a:rPr lang="en-US">
                <a:ea typeface="+mn-lt"/>
                <a:cs typeface="+mn-lt"/>
              </a:rPr>
              <a:t> – MySQL table model</a:t>
            </a:r>
            <a:endParaRPr lang="en-US"/>
          </a:p>
          <a:p>
            <a:r>
              <a:rPr lang="en-US" b="1">
                <a:latin typeface="Consolas"/>
              </a:rPr>
              <a:t>frontend/client.py</a:t>
            </a:r>
            <a:r>
              <a:rPr lang="en-US">
                <a:ea typeface="+mn-lt"/>
                <a:cs typeface="+mn-lt"/>
              </a:rPr>
              <a:t> – simple Python client</a:t>
            </a:r>
            <a:endParaRPr lang="en-US"/>
          </a:p>
          <a:p>
            <a:r>
              <a:rPr lang="en-US" b="1">
                <a:latin typeface="Consolas"/>
              </a:rPr>
              <a:t>README.md</a:t>
            </a:r>
            <a:r>
              <a:rPr lang="en-US">
                <a:ea typeface="+mn-lt"/>
                <a:cs typeface="+mn-lt"/>
              </a:rPr>
              <a:t> – project description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4487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08E76-D137-9510-D7EB-8E81A7D25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>
                <a:ea typeface="+mj-lt"/>
                <a:cs typeface="+mj-lt"/>
              </a:rPr>
              <a:t>Conclusion</a:t>
            </a:r>
            <a:endParaRPr lang="en-US" sz="40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BBCE8-5607-A44C-3783-396E4FF61F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Demonstrates a simple hybrid DBMS model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Automatically chooses the right database</a:t>
            </a:r>
            <a:endParaRPr lang="en-US"/>
          </a:p>
          <a:p>
            <a:r>
              <a:rPr lang="en-US">
                <a:ea typeface="+mn-lt"/>
                <a:cs typeface="+mn-lt"/>
              </a:rPr>
              <a:t>Useful for applications mixing text + structured data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Shows how SQL and NoSQL can work together</a:t>
            </a:r>
            <a:endParaRPr lang="en-US"/>
          </a:p>
          <a:p>
            <a:r>
              <a:rPr lang="en-US">
                <a:ea typeface="+mn-lt"/>
                <a:cs typeface="+mn-lt"/>
              </a:rPr>
              <a:t>Easy to run using Docker and </a:t>
            </a:r>
            <a:r>
              <a:rPr lang="en-US" err="1">
                <a:ea typeface="+mn-lt"/>
                <a:cs typeface="+mn-lt"/>
              </a:rPr>
              <a:t>FastAPI</a:t>
            </a:r>
            <a:endParaRPr lang="en-US" err="1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7965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Hybrid SQL+NoSQL Mini DBMS</vt:lpstr>
      <vt:lpstr>                            INTRODUCTION</vt:lpstr>
      <vt:lpstr>Project Objective</vt:lpstr>
      <vt:lpstr>What is docker?</vt:lpstr>
      <vt:lpstr>Tools and Technologies Used</vt:lpstr>
      <vt:lpstr>System Architecture</vt:lpstr>
      <vt:lpstr>Decision Logic</vt:lpstr>
      <vt:lpstr>How Data Is Stored</vt:lpstr>
      <vt:lpstr>Project Folder Overview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HAFSA HABEEB</dc:creator>
  <cp:revision>2</cp:revision>
  <dcterms:created xsi:type="dcterms:W3CDTF">2025-11-16T10:30:03Z</dcterms:created>
  <dcterms:modified xsi:type="dcterms:W3CDTF">2025-11-23T11:48:27Z</dcterms:modified>
</cp:coreProperties>
</file>